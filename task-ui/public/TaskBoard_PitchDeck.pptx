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34088" y="0"/>
            <a:ext cx="54864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079224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0" y="-914400"/>
            <a:ext cx="5486400" cy="5486400"/>
          </a:xfrm>
          <a:prstGeom prst="rect">
            <a:avLst/>
          </a:prstGeom>
          <a:solidFill>
            <a:srgbClr val="1A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Consolas"/>
              </a:rPr>
              <a:t>AI HACKATHON  ·  DEMO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Segoe UI Black"/>
              </a:rPr>
              <a:t>TASK // 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0BAD4"/>
                </a:solidFill>
                <a:latin typeface="Segoe UI"/>
              </a:rPr>
              <a:t>An AI-native task manager where autonomous agents think,
create, and complete work — in real time.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663440"/>
            <a:ext cx="1371600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SAP CAP Java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4663440"/>
            <a:ext cx="1371600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31720" y="466344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LangGraph4j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4663440"/>
            <a:ext cx="1371600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466344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React 19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0" y="4663440"/>
            <a:ext cx="1371600" cy="29260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466344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Claude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A3A5C"/>
                </a:solidFill>
                <a:latin typeface="Segoe UI"/>
              </a:rPr>
              <a:t>01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C4899"/>
                </a:solidFill>
                <a:latin typeface="Consola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"/>
              </a:rPr>
              <a:t>Task managers are passive tools.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74519"/>
            <a:ext cx="11091672" cy="13716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194560"/>
            <a:ext cx="10607040" cy="1097280"/>
          </a:xfrm>
          <a:prstGeom prst="rect">
            <a:avLst/>
          </a:prstGeom>
          <a:solidFill>
            <a:srgbClr val="16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C4899"/>
                </a:solidFill>
                <a:latin typeface="Segoe UI"/>
              </a:rPr>
              <a:t>🧍 Human-dependent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AD4"/>
                </a:solidFill>
                <a:latin typeface="Segoe UI"/>
              </a:rPr>
              <a:t>Every task requires a person to create it, track it, and close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474720"/>
            <a:ext cx="10607040" cy="1097280"/>
          </a:xfrm>
          <a:prstGeom prst="rect">
            <a:avLst/>
          </a:prstGeom>
          <a:solidFill>
            <a:srgbClr val="16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5661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C4899"/>
                </a:solidFill>
                <a:latin typeface="Segoe UI"/>
              </a:rPr>
              <a:t>⏳ Stale by default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9319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AD4"/>
                </a:solidFill>
                <a:latin typeface="Segoe UI"/>
              </a:rPr>
              <a:t>Work boards go out of date the moment you stop updating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754879"/>
            <a:ext cx="10607040" cy="1097280"/>
          </a:xfrm>
          <a:prstGeom prst="rect">
            <a:avLst/>
          </a:prstGeom>
          <a:solidFill>
            <a:srgbClr val="16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84631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C4899"/>
                </a:solidFill>
                <a:latin typeface="Segoe UI"/>
              </a:rPr>
              <a:t>🔇 No real-time sync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212079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AD4"/>
                </a:solidFill>
                <a:latin typeface="Segoe UI"/>
              </a:rPr>
              <a:t>Multiple users and services see inconsistent views of the same 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A3A5C"/>
                </a:solidFill>
                <a:latin typeface="Segoe UI"/>
              </a:rPr>
              <a:t>02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onsolas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"/>
              </a:rPr>
              <a:t>A task board that runs itself.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74519"/>
            <a:ext cx="11091672" cy="13716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0BAD4"/>
                </a:solidFill>
                <a:latin typeface="Segoe UI"/>
              </a:rPr>
              <a:t>TASK // BOARD combines an OData V4 REST backend with three autonomous AI agents that continuously generate tasks, complete them, and broadcast changes to every connected browser in real time — all without a single human click.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46120"/>
            <a:ext cx="5303520" cy="1188720"/>
          </a:xfrm>
          <a:prstGeom prst="rect">
            <a:avLst/>
          </a:prstGeom>
          <a:solidFill>
            <a:srgbClr val="16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3246120"/>
            <a:ext cx="54864" cy="1188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337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7C3AED"/>
                </a:solidFill>
                <a:latin typeface="Segoe UI"/>
              </a:rPr>
              <a:t>🤖 Self-operating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7490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D4"/>
                </a:solidFill>
                <a:latin typeface="Segoe UI"/>
              </a:rPr>
              <a:t>Agents create &amp; complete tasks 24/7 without human input.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79" y="3246120"/>
            <a:ext cx="5303520" cy="1188720"/>
          </a:xfrm>
          <a:prstGeom prst="rect">
            <a:avLst/>
          </a:prstGeom>
          <a:solidFill>
            <a:srgbClr val="16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79" y="3246120"/>
            <a:ext cx="54864" cy="1188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59" y="3337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6B6D4"/>
                </a:solidFill>
                <a:latin typeface="Segoe UI"/>
              </a:rPr>
              <a:t>⚡ Real-time sync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59" y="37490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D4"/>
                </a:solidFill>
                <a:latin typeface="Segoe UI"/>
              </a:rPr>
              <a:t>Server-Sent Events push changes instantly to all clients.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617720"/>
            <a:ext cx="5303520" cy="1188720"/>
          </a:xfrm>
          <a:prstGeom prst="rect">
            <a:avLst/>
          </a:prstGeom>
          <a:solidFill>
            <a:srgbClr val="16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617720"/>
            <a:ext cx="54864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7091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0B981"/>
                </a:solidFill>
                <a:latin typeface="Segoe UI"/>
              </a:rPr>
              <a:t>💬 Chat interface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1206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D4"/>
                </a:solidFill>
                <a:latin typeface="Segoe UI"/>
              </a:rPr>
              <a:t>Natural language commands via a floating AI assistant.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79" y="4617720"/>
            <a:ext cx="5303520" cy="1188720"/>
          </a:xfrm>
          <a:prstGeom prst="rect">
            <a:avLst/>
          </a:prstGeom>
          <a:solidFill>
            <a:srgbClr val="16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79" y="4617720"/>
            <a:ext cx="54864" cy="1188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59" y="47091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C4899"/>
                </a:solidFill>
                <a:latin typeface="Segoe UI"/>
              </a:rPr>
              <a:t>📊 Live 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51206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D4"/>
                </a:solidFill>
                <a:latin typeface="Segoe UI"/>
              </a:rPr>
              <a:t>Stats dashboard: avg duration, charts, full task history.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A3A5C"/>
                </a:solidFill>
                <a:latin typeface="Segoe UI"/>
              </a:rPr>
              <a:t>03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Consolas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egoe UI"/>
              </a:rPr>
              <a:t>Three layers. One living system.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1091672" cy="13716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103120"/>
            <a:ext cx="3657600" cy="4114800"/>
          </a:xfrm>
          <a:prstGeom prst="rect">
            <a:avLst/>
          </a:prstGeom>
          <a:solidFill>
            <a:srgbClr val="16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103120"/>
            <a:ext cx="36576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6771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3AED"/>
                </a:solidFill>
                <a:latin typeface="Consolas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BAD4"/>
                </a:solidFill>
                <a:latin typeface="Segoe UI"/>
              </a:rPr>
              <a:t>React 19 + Vite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108960"/>
            <a:ext cx="3383280" cy="13716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24612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D4"/>
                </a:solidFill>
                <a:latin typeface="Segoe UI"/>
              </a:rPr>
              <a:t>• Framer Motion animations
• EventSource (SSE) listener
• OData V4 fetch calls
• Chat modal + Stats dashboard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2103120"/>
            <a:ext cx="3657600" cy="4114800"/>
          </a:xfrm>
          <a:prstGeom prst="rect">
            <a:avLst/>
          </a:prstGeom>
          <a:solidFill>
            <a:srgbClr val="16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103120"/>
            <a:ext cx="36576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26771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  <a:latin typeface="Consolas"/>
              </a:rPr>
              <a:t>CAP 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697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BAD4"/>
                </a:solidFill>
                <a:latin typeface="Segoe UI"/>
              </a:rPr>
              <a:t>SAP CAP Java 2.6 + Spring Boot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3108960"/>
            <a:ext cx="3383280" cy="13716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324612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D4"/>
                </a:solidFill>
                <a:latin typeface="Segoe UI"/>
              </a:rPr>
              <a:t>• OData V4 CRUD endpoints
• suggestTask &amp; chatTask actions
• SSE controller + emitter registry
• H2 (dev) / PostgreSQL (prod)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80" y="2103120"/>
            <a:ext cx="3657600" cy="4114800"/>
          </a:xfrm>
          <a:prstGeom prst="rect">
            <a:avLst/>
          </a:prstGeom>
          <a:solidFill>
            <a:srgbClr val="16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80" y="2103120"/>
            <a:ext cx="36576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26771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onsolas"/>
              </a:rPr>
              <a:t>AI AGENTS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697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BAD4"/>
                </a:solidFill>
                <a:latin typeface="Segoe UI"/>
              </a:rPr>
              <a:t>LangGraph4j + LangChain4j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3108960"/>
            <a:ext cx="3383280" cy="13716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324612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D4"/>
                </a:solidFill>
                <a:latin typeface="Segoe UI"/>
              </a:rPr>
              <a:t>• TaskAgent — generates tasks every 10s
• CompleterAgent — closes tasks (5–15s jitter)
• MonitorAgent — detects changes every 2s
• Claude API via Anthropic proxy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39319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A3A5C"/>
                </a:solidFill>
                <a:latin typeface="Segoe UI"/>
              </a:rPr>
              <a:t>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39319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A3A5C"/>
                </a:solidFill>
                <a:latin typeface="Segoe UI"/>
              </a:rPr>
              <a:t>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A3A5C"/>
                </a:solidFill>
                <a:latin typeface="Segoe UI"/>
              </a:rPr>
              <a:t>04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onsolas"/>
              </a:rPr>
              <a:t>THE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egoe UI"/>
              </a:rPr>
              <a:t>Autonomous. Parallel. Relentless.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1091672" cy="13716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148840"/>
            <a:ext cx="3657600" cy="4206240"/>
          </a:xfrm>
          <a:prstGeom prst="rect">
            <a:avLst/>
          </a:prstGeom>
          <a:solidFill>
            <a:srgbClr val="16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148840"/>
            <a:ext cx="36576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1343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3AED"/>
                </a:solidFill>
                <a:latin typeface="Segoe UI"/>
              </a:rPr>
              <a:t>🧠  TASK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6B6D4"/>
                </a:solidFill>
                <a:latin typeface="Consolas"/>
              </a:rPr>
              <a:t>every 10 seconds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154680"/>
            <a:ext cx="3383280" cy="13716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29184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D4"/>
                </a:solidFill>
                <a:latin typeface="Segoe UI"/>
              </a:rPr>
              <a:t>→  Brainstorms a new task with Claude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5020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D4"/>
                </a:solidFill>
                <a:latin typeface="Segoe UI"/>
              </a:rPr>
              <a:t>→  Refines the title to start with 'AI 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08576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D4"/>
                </a:solidFill>
                <a:latin typeface="Segoe UI"/>
              </a:rPr>
              <a:t>→  POSTs it to the OData endpoint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266944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D4"/>
                </a:solidFill>
                <a:latin typeface="Segoe UI"/>
              </a:rPr>
              <a:t>→  Three-node LangGraph4j StateGraph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2148840"/>
            <a:ext cx="3657600" cy="4206240"/>
          </a:xfrm>
          <a:prstGeom prst="rect">
            <a:avLst/>
          </a:prstGeom>
          <a:solidFill>
            <a:srgbClr val="16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2148840"/>
            <a:ext cx="36576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231343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  <a:latin typeface="Segoe UI"/>
              </a:rPr>
              <a:t>✅  COMPLETER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889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6B6D4"/>
                </a:solidFill>
                <a:latin typeface="Consolas"/>
              </a:rPr>
              <a:t>every 5 – 15 seconds (jitter)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154680"/>
            <a:ext cx="3383280" cy="13716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329184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D4"/>
                </a:solidFill>
                <a:latin typeface="Segoe UI"/>
              </a:rPr>
              <a:t>→  Fetches all pending tasks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95020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D4"/>
                </a:solidFill>
                <a:latin typeface="Segoe UI"/>
              </a:rPr>
              <a:t>→  Picks one at random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608576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D4"/>
                </a:solidFill>
                <a:latin typeface="Segoe UI"/>
              </a:rPr>
              <a:t>→  Marks it complete + sets completedAt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5266944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D4"/>
                </a:solidFill>
                <a:latin typeface="Segoe UI"/>
              </a:rPr>
              <a:t>→  Random delay prevents thundering herd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83880" y="2148840"/>
            <a:ext cx="3657600" cy="4206240"/>
          </a:xfrm>
          <a:prstGeom prst="rect">
            <a:avLst/>
          </a:prstGeom>
          <a:solidFill>
            <a:srgbClr val="16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83880" y="2148840"/>
            <a:ext cx="36576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231343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Segoe UI"/>
              </a:rPr>
              <a:t>👁  MONITOR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7889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6B6D4"/>
                </a:solidFill>
                <a:latin typeface="Consolas"/>
              </a:rPr>
              <a:t>every 2 seconds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3154680"/>
            <a:ext cx="3383280" cy="13716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329184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D4"/>
                </a:solidFill>
                <a:latin typeface="Segoe UI"/>
              </a:rPr>
              <a:t>→  Polls the task list via OData GET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95020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D4"/>
                </a:solidFill>
                <a:latin typeface="Segoe UI"/>
              </a:rPr>
              <a:t>→  Diffs the response against last snapshot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608576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D4"/>
                </a:solidFill>
                <a:latin typeface="Segoe UI"/>
              </a:rPr>
              <a:t>→  Broadcasts 'tasks_changed' SSE event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5266944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D4"/>
                </a:solidFill>
                <a:latin typeface="Segoe UI"/>
              </a:rPr>
              <a:t>→  Triggers instant UI refresh in all browsers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A3A5C"/>
                </a:solidFill>
                <a:latin typeface="Segoe UI"/>
              </a:rPr>
              <a:t>05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Consolas"/>
              </a:rPr>
              <a:t>REAL-TIME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From agent action to browser refresh in &lt; 2 seconds.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1091672" cy="13716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286000"/>
            <a:ext cx="2103120" cy="3474720"/>
          </a:xfrm>
          <a:prstGeom prst="rect">
            <a:avLst/>
          </a:prstGeom>
          <a:solidFill>
            <a:srgbClr val="16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286000"/>
            <a:ext cx="21031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45059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C3AED"/>
                </a:solidFill>
                <a:latin typeface="Segoe UI Black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632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Agent writes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52044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D4"/>
                </a:solidFill>
                <a:latin typeface="Segoe UI"/>
              </a:rPr>
              <a:t>CompleterAgent PATCHes a task
via OData V4 endpoint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384048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3A3A5C"/>
                </a:solidFill>
                <a:latin typeface="Segoe U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70632" y="2286000"/>
            <a:ext cx="2103120" cy="3474720"/>
          </a:xfrm>
          <a:prstGeom prst="rect">
            <a:avLst/>
          </a:prstGeom>
          <a:solidFill>
            <a:srgbClr val="16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70632" y="2286000"/>
            <a:ext cx="21031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62072" y="245059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6B6D4"/>
                </a:solidFill>
                <a:latin typeface="Segoe UI Black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62072" y="30632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DB changes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62072" y="352044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D4"/>
                </a:solidFill>
                <a:latin typeface="Segoe UI"/>
              </a:rPr>
              <a:t>CAP persists the update
in H2 / PostgreSQL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73752" y="384048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3A3A5C"/>
                </a:solidFill>
                <a:latin typeface="Segoe U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38344" y="2286000"/>
            <a:ext cx="2103120" cy="3474720"/>
          </a:xfrm>
          <a:prstGeom prst="rect">
            <a:avLst/>
          </a:prstGeom>
          <a:solidFill>
            <a:srgbClr val="16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38344" y="2286000"/>
            <a:ext cx="21031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9784" y="245059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0B981"/>
                </a:solidFill>
                <a:latin typeface="Segoe UI Black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9784" y="30632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Monitor detects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352044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D4"/>
                </a:solidFill>
                <a:latin typeface="Segoe UI"/>
              </a:rPr>
              <a:t>MonitorAgent diffs the
new response vs snapshot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41464" y="384048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3A3A5C"/>
                </a:solidFill>
                <a:latin typeface="Segoe U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06055" y="2286000"/>
            <a:ext cx="2103120" cy="3474720"/>
          </a:xfrm>
          <a:prstGeom prst="rect">
            <a:avLst/>
          </a:prstGeom>
          <a:solidFill>
            <a:srgbClr val="16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06055" y="2286000"/>
            <a:ext cx="2103120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97495" y="245059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C4899"/>
                </a:solidFill>
                <a:latin typeface="Segoe UI Black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97495" y="30632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SSE broadcast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97495" y="352044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D4"/>
                </a:solidFill>
                <a:latin typeface="Segoe UI"/>
              </a:rPr>
              <a:t>SseEmitterRegistry sends
'tasks_changed' to all clients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9175" y="384048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3A3A5C"/>
                </a:solidFill>
                <a:latin typeface="Segoe UI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73768" y="2286000"/>
            <a:ext cx="2103120" cy="3474720"/>
          </a:xfrm>
          <a:prstGeom prst="rect">
            <a:avLst/>
          </a:prstGeom>
          <a:solidFill>
            <a:srgbClr val="16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73768" y="2286000"/>
            <a:ext cx="210312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65208" y="245059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 Black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5208" y="30632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UI refreshes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65208" y="352044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D4"/>
                </a:solidFill>
                <a:latin typeface="Segoe UI"/>
              </a:rPr>
              <a:t>EventSource listener calls
loadTasks() — no polling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A3A5C"/>
                </a:solidFill>
                <a:latin typeface="Segoe UI"/>
              </a:rPr>
              <a:t>06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C4899"/>
                </a:solidFill>
                <a:latin typeface="Consolas"/>
              </a:rPr>
              <a:t>AI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Segoe UI"/>
              </a:rPr>
              <a:t>Claude does the thinking. LangChain4j does the wiring.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1091672" cy="13716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5577840" cy="1920240"/>
          </a:xfrm>
          <a:prstGeom prst="rect">
            <a:avLst/>
          </a:prstGeom>
          <a:solidFill>
            <a:srgbClr val="16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54864" cy="1920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0428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  <a:latin typeface="Consolas"/>
              </a:rPr>
              <a:t>SUGGEST 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D4"/>
                </a:solidFill>
                <a:latin typeface="Segoe UI"/>
              </a:rPr>
              <a:t>User provides a prompt hint → Claude returns a creative
task title + description via a typed LangChain4j interface.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03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A3A5C"/>
                </a:solidFill>
                <a:latin typeface="Consolas"/>
              </a:rPr>
              <a:t>POST /odata/v4/api/suggestTask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79" y="2194560"/>
            <a:ext cx="5577840" cy="1920240"/>
          </a:xfrm>
          <a:prstGeom prst="rect">
            <a:avLst/>
          </a:prstGeom>
          <a:solidFill>
            <a:srgbClr val="16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79" y="2194560"/>
            <a:ext cx="54864" cy="1920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59" y="230428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  <a:latin typeface="Consolas"/>
              </a:rPr>
              <a:t>CHAT ASSISTANT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59" y="274320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D4"/>
                </a:solidFill>
                <a:latin typeface="Segoe UI"/>
              </a:rPr>
              <a:t>User sends a natural language message + the full task list as
context → Claude returns a structured action (create / complete
/ reopen / delete / deleteAll) + parameters.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3703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A3A5C"/>
                </a:solidFill>
                <a:latin typeface="Consolas"/>
              </a:rPr>
              <a:t>POST /odata/v4/api/chatTask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297679"/>
            <a:ext cx="5577840" cy="1920240"/>
          </a:xfrm>
          <a:prstGeom prst="rect">
            <a:avLst/>
          </a:prstGeom>
          <a:solidFill>
            <a:srgbClr val="16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297679"/>
            <a:ext cx="54864" cy="1920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407407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Consolas"/>
              </a:rPr>
              <a:t>AUTONOMOUS GENERATION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46319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D4"/>
                </a:solidFill>
                <a:latin typeface="Segoe UI"/>
              </a:rPr>
              <a:t>TaskAgent uses a two-step LangGraph4j StateGraph: first
brainstorm a task, then refine the title to start with 'AI '.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0643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A3A5C"/>
                </a:solidFill>
                <a:latin typeface="Consolas"/>
              </a:rPr>
              <a:t>LangGraph4j StateGraph (3 nodes)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79" y="4297679"/>
            <a:ext cx="5577840" cy="1920240"/>
          </a:xfrm>
          <a:prstGeom prst="rect">
            <a:avLst/>
          </a:prstGeom>
          <a:solidFill>
            <a:srgbClr val="16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79" y="4297679"/>
            <a:ext cx="54864" cy="19202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59" y="4407407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C4899"/>
                </a:solidFill>
                <a:latin typeface="Consolas"/>
              </a:rPr>
              <a:t>STRUCTURED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59" y="4846319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D4"/>
                </a:solidFill>
                <a:latin typeface="Segoe UI"/>
              </a:rPr>
              <a:t>All three use LangChain4j typed interfaces (@SystemMessage /
@UserMessage) — no manual JSON parsing, just Java records.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59" y="580643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A3A5C"/>
                </a:solidFill>
                <a:latin typeface="Consolas"/>
              </a:rPr>
              <a:t>LangChain4j 1.0.0-beta3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A3A5C"/>
                </a:solidFill>
                <a:latin typeface="Segoe UI"/>
              </a:rPr>
              <a:t>07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onsolas"/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egoe UI"/>
              </a:rPr>
              <a:t>Modern. Enterprise-ready. Fully open.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91672" cy="13716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057400"/>
            <a:ext cx="5577840" cy="1920240"/>
          </a:xfrm>
          <a:prstGeom prst="rect">
            <a:avLst/>
          </a:prstGeom>
          <a:solidFill>
            <a:srgbClr val="16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57400"/>
            <a:ext cx="557784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2199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Consolas"/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D4"/>
                </a:solidFill>
                <a:latin typeface="Segoe UI"/>
              </a:rPr>
              <a:t>▸  SAP CAP Java 2.6.0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0837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D4"/>
                </a:solidFill>
                <a:latin typeface="Segoe UI"/>
              </a:rPr>
              <a:t>▸  Spring Boot 3.2.5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1927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D4"/>
                </a:solidFill>
                <a:latin typeface="Segoe UI"/>
              </a:rPr>
              <a:t>▸  OData V4 adapter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3016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D4"/>
                </a:solidFill>
                <a:latin typeface="Segoe UI"/>
              </a:rPr>
              <a:t>▸  H2 (dev) / PostgreSQL (prod)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79" y="2057400"/>
            <a:ext cx="5577840" cy="1920240"/>
          </a:xfrm>
          <a:prstGeom prst="rect">
            <a:avLst/>
          </a:prstGeom>
          <a:solidFill>
            <a:srgbClr val="16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79" y="2057400"/>
            <a:ext cx="557784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59" y="222199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  <a:latin typeface="Consolas"/>
              </a:rPr>
              <a:t>AI / 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69748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D4"/>
                </a:solidFill>
                <a:latin typeface="Segoe UI"/>
              </a:rPr>
              <a:t>▸  LangChain4j 1.0.0-beta3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300837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D4"/>
                </a:solidFill>
                <a:latin typeface="Segoe UI"/>
              </a:rPr>
              <a:t>▸  LangGraph4j 1.8.10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331927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D4"/>
                </a:solidFill>
                <a:latin typeface="Segoe UI"/>
              </a:rPr>
              <a:t>▸  Anthropic Claude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363016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D4"/>
                </a:solidFill>
                <a:latin typeface="Segoe UI"/>
              </a:rPr>
              <a:t>▸  claude-haiku-4-5 (default)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160520"/>
            <a:ext cx="5577840" cy="1920240"/>
          </a:xfrm>
          <a:prstGeom prst="rect">
            <a:avLst/>
          </a:prstGeom>
          <a:solidFill>
            <a:srgbClr val="16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160520"/>
            <a:ext cx="55778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32511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onsolas"/>
              </a:rPr>
              <a:t>FRONTEND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80060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D4"/>
                </a:solidFill>
                <a:latin typeface="Segoe UI"/>
              </a:rPr>
              <a:t>▸  React 19.2.4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11149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D4"/>
                </a:solidFill>
                <a:latin typeface="Segoe UI"/>
              </a:rPr>
              <a:t>▸  Vite 5.4.21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42239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D4"/>
                </a:solidFill>
                <a:latin typeface="Segoe UI"/>
              </a:rPr>
              <a:t>▸  Framer Motion 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73328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D4"/>
                </a:solidFill>
                <a:latin typeface="Segoe UI"/>
              </a:rPr>
              <a:t>▸  Lucide React icons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79" y="4160520"/>
            <a:ext cx="5577840" cy="1920240"/>
          </a:xfrm>
          <a:prstGeom prst="rect">
            <a:avLst/>
          </a:prstGeom>
          <a:solidFill>
            <a:srgbClr val="16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79" y="4160520"/>
            <a:ext cx="5577840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59" y="432511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C4899"/>
                </a:solidFill>
                <a:latin typeface="Consolas"/>
              </a:rPr>
              <a:t>DEPLOYMENT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59" y="480060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D4"/>
                </a:solidFill>
                <a:latin typeface="Segoe UI"/>
              </a:rPr>
              <a:t>▸  Docker multi-stage build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59" y="511149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D4"/>
                </a:solidFill>
                <a:latin typeface="Segoe UI"/>
              </a:rPr>
              <a:t>▸  Railway (backend)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59" y="542239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D4"/>
                </a:solidFill>
                <a:latin typeface="Segoe UI"/>
              </a:rPr>
              <a:t>▸  Vercel (frontend)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59" y="573328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D4"/>
                </a:solidFill>
                <a:latin typeface="Segoe UI"/>
              </a:rPr>
              <a:t>▸  Java 21 JRE runtime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A3A5C"/>
                </a:solidFill>
                <a:latin typeface="Segoe UI"/>
              </a:rPr>
              <a:t>08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onsolas"/>
              </a:rPr>
              <a:t>DESIGN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egoe UI"/>
              </a:rPr>
              <a:t>Engineering choices that matter.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91672" cy="13716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5577840" cy="1371600"/>
          </a:xfrm>
          <a:prstGeom prst="rect">
            <a:avLst/>
          </a:prstGeom>
          <a:solidFill>
            <a:srgbClr val="16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54864" cy="13716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  <a:latin typeface="Segoe UI"/>
              </a:rPr>
              <a:t>SSE over WebSockets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D4"/>
                </a:solidFill>
                <a:latin typeface="Segoe UI"/>
              </a:rPr>
              <a:t>Simpler, HTTP/1.1-compatible, unidirectional push — perfect for read-heavy broadcast without bi-directional overhead.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79" y="2011680"/>
            <a:ext cx="5577840" cy="1371600"/>
          </a:xfrm>
          <a:prstGeom prst="rect">
            <a:avLst/>
          </a:prstGeom>
          <a:solidFill>
            <a:srgbClr val="16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79" y="2011680"/>
            <a:ext cx="54864" cy="1371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59" y="21031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  <a:latin typeface="Segoe UI"/>
              </a:rPr>
              <a:t>LangGraph4j for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251460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D4"/>
                </a:solidFill>
                <a:latin typeface="Segoe UI"/>
              </a:rPr>
              <a:t>Composable StateGraph nodes enable multi-step reasoning (generate → refine → post) with clean separation of concerns.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520440"/>
            <a:ext cx="5577840" cy="1371600"/>
          </a:xfrm>
          <a:prstGeom prst="rect">
            <a:avLst/>
          </a:prstGeom>
          <a:solidFill>
            <a:srgbClr val="16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520440"/>
            <a:ext cx="54864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611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Segoe UI"/>
              </a:rPr>
              <a:t>OData V4 for CRUD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2336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D4"/>
                </a:solidFill>
                <a:latin typeface="Segoe UI"/>
              </a:rPr>
              <a:t>CAP auto-generates filter, select, and expand operations. Standard protocol enables future SAP BTP integration.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79" y="3520440"/>
            <a:ext cx="5577840" cy="1371600"/>
          </a:xfrm>
          <a:prstGeom prst="rect">
            <a:avLst/>
          </a:prstGeom>
          <a:solidFill>
            <a:srgbClr val="16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79" y="3520440"/>
            <a:ext cx="54864" cy="13716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59" y="3611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C4899"/>
                </a:solidFill>
                <a:latin typeface="Segoe UI"/>
              </a:rPr>
              <a:t>Random jitter in CompleterAgent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402336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D4"/>
                </a:solidFill>
                <a:latin typeface="Segoe UI"/>
              </a:rPr>
              <a:t>5–15s random delay prevents thundering-herd bursts when multiple instances run in parallel on the same schedule.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029200"/>
            <a:ext cx="5577840" cy="1371600"/>
          </a:xfrm>
          <a:prstGeom prst="rect">
            <a:avLst/>
          </a:prstGeom>
          <a:solidFill>
            <a:srgbClr val="16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029200"/>
            <a:ext cx="54864" cy="13716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120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  <a:latin typeface="Segoe UI"/>
              </a:rPr>
              <a:t>Typed LangChain4j interfaces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53212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D4"/>
                </a:solidFill>
                <a:latin typeface="Segoe UI"/>
              </a:rPr>
              <a:t>Java records replace manual JSON parsing. Compiler enforces response shape. Simpler, safer, more maintainable.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079" y="5029200"/>
            <a:ext cx="5577840" cy="1371600"/>
          </a:xfrm>
          <a:prstGeom prst="rect">
            <a:avLst/>
          </a:prstGeom>
          <a:solidFill>
            <a:srgbClr val="16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79" y="5029200"/>
            <a:ext cx="54864" cy="1371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5120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  <a:latin typeface="Segoe UI"/>
              </a:rPr>
              <a:t>HTTP/1.1 for Claude API calls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59" y="553212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D4"/>
                </a:solidFill>
                <a:latin typeface="Segoe UI"/>
              </a:rPr>
              <a:t>SAP Hyperspace proxy rejects HTTP/2. Explicit HttpClient.Version.HTTP_1_1 avoids silent protocol negotiation failure.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A3A5C"/>
                </a:solidFill>
                <a:latin typeface="Segoe UI"/>
              </a:rPr>
              <a:t>09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Consolas"/>
              </a:rP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egoe UI"/>
              </a:rPr>
              <a:t>Production-ready on day 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91672" cy="13716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5394960" cy="4114800"/>
          </a:xfrm>
          <a:prstGeom prst="rect">
            <a:avLst/>
          </a:prstGeom>
          <a:solidFill>
            <a:srgbClr val="16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539496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6771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7C3AED"/>
                </a:solidFill>
                <a:latin typeface="Segoe UI"/>
              </a:rPr>
              <a:t>🚂  RAILWAY — 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D4"/>
                </a:solidFill>
                <a:latin typeface="Segoe UI"/>
              </a:rPr>
              <a:t>▸  Docker multi-stage build (Node 22 + Maven → JRE 21)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37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D4"/>
                </a:solidFill>
                <a:latin typeface="Segoe UI"/>
              </a:rPr>
              <a:t>▸  Starts: java -Dspring.profiles.active=prod -jar app.jar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D4"/>
                </a:solidFill>
                <a:latin typeface="Segoe UI"/>
              </a:rPr>
              <a:t>▸  Health check: GET /odata/v4/api/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43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D4"/>
                </a:solidFill>
                <a:latin typeface="Segoe UI"/>
              </a:rPr>
              <a:t>▸  Restart policy: ON_FAILURE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46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D4"/>
                </a:solidFill>
                <a:latin typeface="Segoe UI"/>
              </a:rPr>
              <a:t>▸  Env vars: ANTHROPIC_API_KEY, ANTHROPIC_PROXY_URL, ANTHROPIC_MODEL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103120"/>
            <a:ext cx="5394960" cy="4114800"/>
          </a:xfrm>
          <a:prstGeom prst="rect">
            <a:avLst/>
          </a:prstGeom>
          <a:solidFill>
            <a:srgbClr val="16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2103120"/>
            <a:ext cx="539496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26771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6B6D4"/>
                </a:solidFill>
                <a:latin typeface="Segoe UI"/>
              </a:rPr>
              <a:t>▲  VERCEL — Frontend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834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D4"/>
                </a:solidFill>
                <a:latin typeface="Segoe UI"/>
              </a:rPr>
              <a:t>▸  npm install &amp;&amp; npm run build (Vite → dist/)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337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D4"/>
                </a:solidFill>
                <a:latin typeface="Segoe UI"/>
              </a:rPr>
              <a:t>▸  Static hosting from dist/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840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D4"/>
                </a:solidFill>
                <a:latin typeface="Segoe UI"/>
              </a:rPr>
              <a:t>▸  VITE_API_URL env var points to Railway backend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343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D4"/>
                </a:solidFill>
                <a:latin typeface="Segoe UI"/>
              </a:rPr>
              <a:t>▸  Zero-config framework detection for Vite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846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D4"/>
                </a:solidFill>
                <a:latin typeface="Segoe UI"/>
              </a:rPr>
              <a:t>▸  Global CDN, automatic HTTPS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A3A5C"/>
                </a:solidFill>
                <a:latin typeface="Segoe U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34088" y="0"/>
            <a:ext cx="54864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079224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Segoe UI Black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34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B0BAD4"/>
                </a:solidFill>
                <a:latin typeface="Segoe UI"/>
              </a:rPr>
              <a:t>TASK // BOARD — AI-native task management, built in a 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840480"/>
            <a:ext cx="1371600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SAP CAP Java</a:t>
            </a:r>
          </a:p>
        </p:txBody>
      </p:sp>
      <p:sp>
        <p:nvSpPr>
          <p:cNvPr id="9" name="Rectangle 8"/>
          <p:cNvSpPr/>
          <p:nvPr/>
        </p:nvSpPr>
        <p:spPr>
          <a:xfrm>
            <a:off x="2331720" y="3840480"/>
            <a:ext cx="1371600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384048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LangGraph4j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3840480"/>
            <a:ext cx="1371600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384048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React 19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0" y="3840480"/>
            <a:ext cx="1371600" cy="29260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384048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Claude API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3840480"/>
            <a:ext cx="1371600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84048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Railway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3840480"/>
            <a:ext cx="1371600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4048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Vercel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A3A5C"/>
                </a:solidFill>
                <a:latin typeface="Consolas"/>
              </a:rPr>
              <a:t>github.tools.sap/CALMBuild/claude-code-playground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A3A5C"/>
                </a:solidFill>
                <a:latin typeface="Segoe UI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